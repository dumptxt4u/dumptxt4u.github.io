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17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CBE2FB-C7FC-4B0D-9714-64B412B4D39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CCF1B8-F7E9-4B91-A440-A9887CEC3D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235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F22B3F-CFD1-4D08-88A2-9C0473CAC2B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410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F22B3F-CFD1-4D08-88A2-9C0473CAC2B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830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F22B3F-CFD1-4D08-88A2-9C0473CAC2B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444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F22B3F-CFD1-4D08-88A2-9C0473CAC2B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969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1ED69-4523-41E8-8982-BC2D56621D1C}" type="slidenum">
              <a:rPr lang="en-GB" smtClean="0">
                <a:solidFill>
                  <a:prstClr val="black"/>
                </a:solidFill>
              </a:rPr>
              <a:pPr/>
              <a:t>10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094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B559-1051-476A-86D2-9C4109921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3B150-9DBC-445C-A68A-9C43FE81E9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41C1D-BCAA-488C-A5F4-4B66BF1F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20BBD-445E-4522-8CE3-EA03B6CC7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029EA-C99B-4876-A249-900E5973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22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A8EF-28CE-4AFD-88C0-78F7C6AF2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2723A-9D0B-473D-837B-50FCAD448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F9B22-FE31-4284-B812-48F90B58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F5E3-86E3-4677-91CA-693E47F7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F344A-A3F3-4043-97F9-81823586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9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4C23-CFFA-48EE-932D-63302C76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C77F4-4801-4516-BE05-62800D446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DBA1A-4746-421F-B78D-686D0D30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9F3EB-134F-4BF6-A06A-A0A02856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370F1-E779-4605-83AF-782ADAB64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8423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B6CA-4867-43D0-BF6D-52C316EC9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2C0C0-C0EF-4882-B0F1-9FCF58847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0B723-2C88-462D-9668-30A2A6818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6166B-223F-4453-845E-32CDB4249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5A2D5-B1F7-4A0E-82A3-B3E60239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6D7BC-48AA-4EED-ACFD-6B679D11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67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46B1-50A0-43E8-ACA9-EFF2E673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7DFE3-5115-457C-AB37-DC4E2F001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4CD59-43F7-4B03-B8B5-BE84485A8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6357E-11D7-4942-8683-69226D79D1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F0261-F5A6-48FB-986B-4876497C4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2B2755-8434-49C4-B319-08C27CEE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6366A-59BC-4456-B7F3-8667DB3F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4A56B-5651-4E72-8795-EEF12398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97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46A5-8E99-4DFE-A62F-FA4EE6FA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AA196-C4D1-4D2B-906C-01AB1BBBB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DF6074-E9AB-47A2-95F6-00A1F19E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6BC8F-29E5-4834-98BE-9E78D06A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25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B9CF9-7657-433F-8163-C7E4F91A4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AC1EC-7AA7-4E7B-8A4E-137A2C69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93F18-B640-49AC-B4CA-236A4B97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97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04A9A-EB3F-464E-A55F-51376B948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EBDE2-9C5F-4FE9-A7E2-002D26891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DBF8C1-387F-40C4-9417-1B4786CEA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B7C2B8-3AAF-430F-9275-6D47566E5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C8AD5-4762-40D0-8149-34A582B01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F4CCE-072C-482C-BD74-A42AE8798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91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9874-242C-4760-9018-B889046B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089F9-E972-4B70-8568-734E6E3AB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A56FB9-855F-4F96-B9DA-6FB17E7F9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8A128-5804-4EC1-96A0-F6036508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2A00F-CB00-418A-B6A7-84FD0907C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91AC2-2A7C-438B-AFE7-CE7204F1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77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2D543-C5B4-4886-992A-7AD5CC3C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C34D5-604D-4C30-91D7-4CA1BA477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53F1D-E225-4ACA-AB56-EC611A6F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F7164-3D8A-400D-9780-A15AEBBE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AAD02-AD03-47CC-A65F-A75A2DC2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47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141165-712D-44A8-BD50-CA0710E6E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899CE-F5BD-47B2-8691-2539AD6A1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EF292-743A-4562-B62C-1B1DB8CBE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0563-2B40-454C-AFBD-41C32EA65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10CC8-336B-4B67-BAC7-BCCB0061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1116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230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42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629AA-DDC7-4CFE-856A-10190139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B81AC-9259-4006-A1B8-9651EA2C9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A9850-8C5B-4FF9-93D2-D9B9D405A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1B5E7-4A0A-4CA3-99EC-A643C2AFAB47}" type="datetimeFigureOut">
              <a:rPr lang="en-GB" smtClean="0"/>
              <a:t>19/09/2018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E505A-E292-41C9-9589-05E36A8F3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9BFC96-690C-4648-8978-B63049CBF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529D1-5B3B-491A-9828-8BF5298F58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65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3575720" y="1916833"/>
            <a:ext cx="2267818" cy="3477875"/>
          </a:xfrm>
          <a:prstGeom prst="rect">
            <a:avLst/>
          </a:prstGeom>
          <a:ln w="762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+ 8x + 15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+ 8x + 7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+ 9x + 20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+ 6x + 9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– 6x + 5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– 2x + 1 =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9386" y="1916832"/>
            <a:ext cx="2267818" cy="3477875"/>
          </a:xfrm>
          <a:prstGeom prst="rect">
            <a:avLst/>
          </a:prstGeom>
          <a:ln w="762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+ 3x – 18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– 3x – 18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+ 3x – 28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– x – 12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+ 2x – 24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- 7x + 12 =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4577" y="1916832"/>
            <a:ext cx="2267818" cy="3477875"/>
          </a:xfrm>
          <a:prstGeom prst="rect">
            <a:avLst/>
          </a:prstGeom>
          <a:ln w="7620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5x</a:t>
            </a:r>
            <a:r>
              <a:rPr lang="en-GB" sz="2000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</a:t>
            </a:r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 + 16x + 3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2x² + 11x + 5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3x² + 4x + 1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8x² + 6x + 1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6x² + 13x + 6 = 0</a:t>
            </a:r>
          </a:p>
          <a:p>
            <a:endParaRPr lang="en-GB" sz="2000" dirty="0">
              <a:solidFill>
                <a:srgbClr val="000000"/>
              </a:solidFill>
              <a:latin typeface="Comic Sans MS"/>
              <a:ea typeface="Microsoft YaHei"/>
            </a:endParaRPr>
          </a:p>
          <a:p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6x² - 7x + 1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6593" y="1297736"/>
            <a:ext cx="6905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rgbClr val="000000"/>
                </a:solidFill>
                <a:latin typeface="Comic Sans MS"/>
                <a:ea typeface="Microsoft YaHei"/>
              </a:rPr>
              <a:t>Factorise and solve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424954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5720" y="1844824"/>
            <a:ext cx="2088232" cy="3416320"/>
          </a:xfrm>
          <a:prstGeom prst="rect">
            <a:avLst/>
          </a:prstGeom>
          <a:ln w="762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dirty="0">
                <a:latin typeface="Comic Sans MS" panose="030F0702030302020204" pitchFamily="66" charset="0"/>
              </a:rPr>
              <a:t>(x + 5)(x + 3)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-5, x = -3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+ 1)(x + 7)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-1, x = -7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+ 4)(x + 5)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-4, x = -5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+ 3)(x + 3)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-3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– 5)(x – 1)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5, x = 1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– 1)(x – 1)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839439" y="1844824"/>
            <a:ext cx="2073205" cy="3416320"/>
          </a:xfrm>
          <a:prstGeom prst="rect">
            <a:avLst/>
          </a:prstGeom>
          <a:ln w="76200"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dirty="0">
                <a:latin typeface="Comic Sans MS" panose="030F0702030302020204" pitchFamily="66" charset="0"/>
              </a:rPr>
              <a:t>(x + 6)(x – 3)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-6, x = 3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– 6)(x + 3)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6, x = -3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+ 7)(x – 4)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-7, x = 4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– 4)(x + 3) = 0</a:t>
            </a:r>
          </a:p>
          <a:p>
            <a:pPr lvl="0"/>
            <a:r>
              <a:rPr lang="en-GB" b="1" dirty="0">
                <a:latin typeface="Comic Sans MS" panose="030F0702030302020204" pitchFamily="66" charset="0"/>
              </a:rPr>
              <a:t>x = 4, x = -3</a:t>
            </a:r>
          </a:p>
          <a:p>
            <a:pPr lvl="0"/>
            <a:r>
              <a:rPr lang="en-GB" dirty="0">
                <a:latin typeface="Comic Sans MS" panose="030F0702030302020204" pitchFamily="66" charset="0"/>
              </a:rPr>
              <a:t>(x + 6)(x – 4) = 0</a:t>
            </a:r>
          </a:p>
          <a:p>
            <a:r>
              <a:rPr lang="en-GB" b="1" dirty="0">
                <a:latin typeface="Comic Sans MS" panose="030F0702030302020204" pitchFamily="66" charset="0"/>
              </a:rPr>
              <a:t>x = -6, x = 4</a:t>
            </a:r>
          </a:p>
          <a:p>
            <a:r>
              <a:rPr lang="en-GB" dirty="0">
                <a:latin typeface="Comic Sans MS" panose="030F0702030302020204" pitchFamily="66" charset="0"/>
              </a:rPr>
              <a:t>(x – 3)(x – 4) = 0</a:t>
            </a:r>
          </a:p>
          <a:p>
            <a:r>
              <a:rPr lang="en-GB" b="1" dirty="0">
                <a:latin typeface="Comic Sans MS" panose="030F0702030302020204" pitchFamily="66" charset="0"/>
              </a:rPr>
              <a:t>x = 3, x =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088129" y="1574750"/>
                <a:ext cx="2274202" cy="3686394"/>
              </a:xfrm>
              <a:prstGeom prst="rect">
                <a:avLst/>
              </a:prstGeom>
              <a:ln w="76200">
                <a:solidFill>
                  <a:srgbClr val="92D050"/>
                </a:solidFill>
              </a:ln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GB" dirty="0">
                    <a:latin typeface="Comic Sans MS" panose="030F0702030302020204" pitchFamily="66" charset="0"/>
                  </a:rPr>
                  <a:t>(5x + 1)(x + 3) = 0</a:t>
                </a:r>
              </a:p>
              <a:p>
                <a:pPr lvl="0"/>
                <a:r>
                  <a:rPr lang="en-GB" b="1" dirty="0">
                    <a:latin typeface="Comic Sans MS" panose="030F0702030302020204" pitchFamily="66" charset="0"/>
                  </a:rPr>
                  <a:t>x =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1400" b="1" i="1">
                            <a:latin typeface="Cambria Math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GB" b="1" dirty="0">
                    <a:latin typeface="Comic Sans MS" panose="030F0702030302020204" pitchFamily="66" charset="0"/>
                  </a:rPr>
                  <a:t> , x = -3</a:t>
                </a:r>
              </a:p>
              <a:p>
                <a:pPr lvl="0"/>
                <a:r>
                  <a:rPr lang="en-GB" dirty="0">
                    <a:latin typeface="Comic Sans MS" panose="030F0702030302020204" pitchFamily="66" charset="0"/>
                  </a:rPr>
                  <a:t>(2x + 1)(x + 5) = 0</a:t>
                </a:r>
              </a:p>
              <a:p>
                <a:pPr lvl="0"/>
                <a:r>
                  <a:rPr lang="en-GB" b="1" dirty="0">
                    <a:latin typeface="Comic Sans MS" panose="030F0702030302020204" pitchFamily="66" charset="0"/>
                  </a:rPr>
                  <a:t>x = -½, x = -5  </a:t>
                </a:r>
              </a:p>
              <a:p>
                <a:pPr lvl="0"/>
                <a:r>
                  <a:rPr lang="en-GB" dirty="0">
                    <a:latin typeface="Comic Sans MS" panose="030F0702030302020204" pitchFamily="66" charset="0"/>
                  </a:rPr>
                  <a:t>(3x + 1)(x + 1) = 0</a:t>
                </a:r>
              </a:p>
              <a:p>
                <a:pPr lvl="0"/>
                <a:r>
                  <a:rPr lang="en-GB" b="1" dirty="0">
                    <a:latin typeface="Comic Sans MS" panose="030F0702030302020204" pitchFamily="66" charset="0"/>
                  </a:rPr>
                  <a:t>x = 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1400" b="1" i="1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b="1" dirty="0">
                    <a:latin typeface="Comic Sans MS" panose="030F0702030302020204" pitchFamily="66" charset="0"/>
                  </a:rPr>
                  <a:t> , x = -1</a:t>
                </a:r>
              </a:p>
              <a:p>
                <a:pPr lvl="0"/>
                <a:r>
                  <a:rPr lang="en-GB" dirty="0">
                    <a:latin typeface="Comic Sans MS" panose="030F0702030302020204" pitchFamily="66" charset="0"/>
                  </a:rPr>
                  <a:t>(2x + 1)(4x + 1) = 0</a:t>
                </a:r>
              </a:p>
              <a:p>
                <a:pPr lvl="0"/>
                <a:r>
                  <a:rPr lang="en-GB" b="1" dirty="0">
                    <a:latin typeface="Comic Sans MS" panose="030F0702030302020204" pitchFamily="66" charset="0"/>
                  </a:rPr>
                  <a:t>x = -½, x = -¼  </a:t>
                </a:r>
              </a:p>
              <a:p>
                <a:pPr lvl="0"/>
                <a:r>
                  <a:rPr lang="en-GB" dirty="0">
                    <a:latin typeface="Comic Sans MS" panose="030F0702030302020204" pitchFamily="66" charset="0"/>
                  </a:rPr>
                  <a:t>(3x + 2)(2x + 3) = 0</a:t>
                </a:r>
              </a:p>
              <a:p>
                <a:pPr lvl="0"/>
                <a:r>
                  <a:rPr lang="en-GB" b="1" dirty="0">
                    <a:latin typeface="Comic Sans MS" panose="030F0702030302020204" pitchFamily="66" charset="0"/>
                  </a:rPr>
                  <a:t>x = </a:t>
                </a:r>
                <a:r>
                  <a:rPr lang="en-GB" sz="2400" b="1" dirty="0">
                    <a:latin typeface="Comic Sans MS" panose="030F0702030302020204" pitchFamily="66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/>
                          </a:rPr>
                          <m:t>𝟐</m:t>
                        </m:r>
                      </m:num>
                      <m:den>
                        <m:r>
                          <a:rPr lang="en-GB" sz="1400" b="1" i="1">
                            <a:latin typeface="Cambria Math"/>
                          </a:rPr>
                          <m:t>𝟑</m:t>
                        </m:r>
                      </m:den>
                    </m:f>
                  </m:oMath>
                </a14:m>
                <a:r>
                  <a:rPr lang="en-GB" b="1" dirty="0">
                    <a:latin typeface="Comic Sans MS" panose="030F0702030302020204" pitchFamily="66" charset="0"/>
                  </a:rPr>
                  <a:t>, x = </a:t>
                </a:r>
                <a:r>
                  <a:rPr lang="en-GB" sz="2400" b="1" dirty="0">
                    <a:latin typeface="Comic Sans MS" panose="030F0702030302020204" pitchFamily="66" charset="0"/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/>
                          </a:rPr>
                          <m:t>𝟑</m:t>
                        </m:r>
                      </m:num>
                      <m:den>
                        <m:r>
                          <a:rPr lang="en-GB" sz="1400" b="1" i="1">
                            <a:latin typeface="Cambria Math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GB" sz="2400" b="1" dirty="0">
                    <a:latin typeface="Comic Sans MS" panose="030F0702030302020204" pitchFamily="66" charset="0"/>
                  </a:rPr>
                  <a:t> </a:t>
                </a:r>
              </a:p>
              <a:p>
                <a:pPr lvl="0"/>
                <a:r>
                  <a:rPr lang="en-GB" dirty="0">
                    <a:latin typeface="Comic Sans MS" panose="030F0702030302020204" pitchFamily="66" charset="0"/>
                  </a:rPr>
                  <a:t>(6x – 1)(x – 1) = 0</a:t>
                </a:r>
              </a:p>
              <a:p>
                <a:pPr lvl="0"/>
                <a:r>
                  <a:rPr lang="en-GB" b="1" dirty="0">
                    <a:latin typeface="Comic Sans MS" panose="030F0702030302020204" pitchFamily="66" charset="0"/>
                  </a:rPr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1" i="1">
                            <a:latin typeface="Cambria Math"/>
                          </a:rPr>
                          <m:t>𝟏</m:t>
                        </m:r>
                      </m:num>
                      <m:den>
                        <m:r>
                          <a:rPr lang="en-GB" sz="1400" b="1" i="1">
                            <a:latin typeface="Cambria Math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GB" b="1" dirty="0">
                    <a:latin typeface="Comic Sans MS" panose="030F0702030302020204" pitchFamily="66" charset="0"/>
                  </a:rPr>
                  <a:t>, x = 1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129" y="1574750"/>
                <a:ext cx="2274202" cy="3686394"/>
              </a:xfrm>
              <a:prstGeom prst="rect">
                <a:avLst/>
              </a:prstGeom>
              <a:blipFill>
                <a:blip r:embed="rId3"/>
                <a:stretch>
                  <a:fillRect l="-777"/>
                </a:stretch>
              </a:blipFill>
              <a:ln w="76200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575720" y="1097310"/>
            <a:ext cx="4552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dirty="0">
                <a:latin typeface="Comic Sans MS" panose="030F0702030302020204" pitchFamily="66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1010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5560366" y="1350481"/>
            <a:ext cx="47841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…means “for what values of x is this quadratic </a:t>
            </a:r>
            <a:r>
              <a:rPr lang="en-GB" b="1" u="sng" dirty="0">
                <a:solidFill>
                  <a:srgbClr val="000000"/>
                </a:solidFill>
                <a:latin typeface="Comic Sans MS"/>
                <a:ea typeface="Microsoft YaHei"/>
              </a:rPr>
              <a:t>above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 the x axis”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647728" y="1350480"/>
            <a:ext cx="17668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ax</a:t>
            </a:r>
            <a:r>
              <a:rPr lang="en-GB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 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+ </a:t>
            </a:r>
            <a:r>
              <a:rPr lang="en-GB" dirty="0" err="1">
                <a:solidFill>
                  <a:srgbClr val="000000"/>
                </a:solidFill>
                <a:latin typeface="Comic Sans MS"/>
                <a:ea typeface="Microsoft YaHei"/>
              </a:rPr>
              <a:t>bx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 + c &gt; 0</a:t>
            </a:r>
            <a:endParaRPr lang="en-US" dirty="0">
              <a:solidFill>
                <a:srgbClr val="000000"/>
              </a:solidFill>
              <a:latin typeface="Comic Sans MS"/>
              <a:ea typeface="Microsoft YaHei"/>
            </a:endParaRP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/>
          </p:nvPr>
        </p:nvGraphicFramePr>
        <p:xfrm>
          <a:off x="6960097" y="2093962"/>
          <a:ext cx="2867025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Bitmap Image" r:id="rId4" imgW="2866667" imgH="2343477" progId="PBrush">
                  <p:embed/>
                </p:oleObj>
              </mc:Choice>
              <mc:Fallback>
                <p:oleObj name="Bitmap Image" r:id="rId4" imgW="2866667" imgH="2343477" progId="PBrush">
                  <p:embed/>
                  <p:pic>
                    <p:nvPicPr>
                      <p:cNvPr id="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0097" y="2093962"/>
                        <a:ext cx="2867025" cy="234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647728" y="2111210"/>
            <a:ext cx="216277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e.g. x</a:t>
            </a:r>
            <a:r>
              <a:rPr lang="en-GB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 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+ x - 20 &gt; 0</a:t>
            </a:r>
            <a:endParaRPr lang="en-US" dirty="0">
              <a:solidFill>
                <a:srgbClr val="000000"/>
              </a:solidFill>
              <a:latin typeface="Comic Sans MS"/>
              <a:ea typeface="Microsoft YaHei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704382" y="4437113"/>
            <a:ext cx="46400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…means “for what values of x is this quadratic </a:t>
            </a:r>
            <a:r>
              <a:rPr lang="en-GB" b="1" u="sng" dirty="0">
                <a:solidFill>
                  <a:srgbClr val="000000"/>
                </a:solidFill>
                <a:latin typeface="Comic Sans MS"/>
                <a:ea typeface="Microsoft YaHei"/>
              </a:rPr>
              <a:t>below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 the x axis”</a:t>
            </a:r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3647728" y="4437112"/>
            <a:ext cx="17668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ax</a:t>
            </a:r>
            <a:r>
              <a:rPr lang="en-GB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 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+ </a:t>
            </a:r>
            <a:r>
              <a:rPr lang="en-GB" dirty="0" err="1">
                <a:solidFill>
                  <a:srgbClr val="000000"/>
                </a:solidFill>
                <a:latin typeface="Comic Sans MS"/>
                <a:ea typeface="Microsoft YaHei"/>
              </a:rPr>
              <a:t>bx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 + c &lt; 0</a:t>
            </a:r>
            <a:endParaRPr lang="en-US" dirty="0">
              <a:solidFill>
                <a:srgbClr val="000000"/>
              </a:solidFill>
              <a:latin typeface="Comic Sans MS"/>
              <a:ea typeface="Microsoft YaHei"/>
            </a:endParaRPr>
          </a:p>
        </p:txBody>
      </p:sp>
      <p:sp>
        <p:nvSpPr>
          <p:cNvPr id="8" name="Rectangle 13"/>
          <p:cNvSpPr>
            <a:spLocks noChangeArrowheads="1"/>
          </p:cNvSpPr>
          <p:nvPr/>
        </p:nvSpPr>
        <p:spPr bwMode="auto">
          <a:xfrm>
            <a:off x="3647729" y="5197918"/>
            <a:ext cx="209384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e.g. x</a:t>
            </a:r>
            <a:r>
              <a:rPr lang="en-GB" baseline="30000" dirty="0">
                <a:solidFill>
                  <a:srgbClr val="000000"/>
                </a:solidFill>
                <a:latin typeface="Comic Sans MS"/>
                <a:ea typeface="Microsoft YaHei"/>
              </a:rPr>
              <a:t>2 </a:t>
            </a:r>
            <a:r>
              <a:rPr lang="en-GB" dirty="0">
                <a:solidFill>
                  <a:srgbClr val="000000"/>
                </a:solidFill>
                <a:latin typeface="Comic Sans MS"/>
                <a:ea typeface="Microsoft YaHei"/>
              </a:rPr>
              <a:t>+ x - 20 &lt; 0</a:t>
            </a:r>
            <a:endParaRPr lang="en-US" dirty="0">
              <a:solidFill>
                <a:srgbClr val="000000"/>
              </a:solidFill>
              <a:latin typeface="Comic Sans MS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8669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1775520" y="1426069"/>
          <a:ext cx="2448272" cy="200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Bitmap Image" r:id="rId4" imgW="2866667" imgH="2343477" progId="PBrush">
                  <p:embed/>
                </p:oleObj>
              </mc:Choice>
              <mc:Fallback>
                <p:oleObj name="Bitmap Image" r:id="rId4" imgW="2866667" imgH="2343477" progId="PBrush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1426069"/>
                        <a:ext cx="2448272" cy="2000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094" y="4272803"/>
            <a:ext cx="214312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0794" y="1405746"/>
            <a:ext cx="2305050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569" y="5013176"/>
            <a:ext cx="1399456" cy="1399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621" y="4185583"/>
            <a:ext cx="1367036" cy="1655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610618" y="2426526"/>
            <a:ext cx="31401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Comic Sans MS" panose="030F0702030302020204" pitchFamily="66" charset="0"/>
              </a:rPr>
              <a:t>The shape of a quadratic graph is a parabola.</a:t>
            </a:r>
          </a:p>
          <a:p>
            <a:pPr algn="ctr"/>
            <a:endParaRPr lang="en-GB" dirty="0">
              <a:latin typeface="Comic Sans MS" panose="030F0702030302020204" pitchFamily="66" charset="0"/>
            </a:endParaRPr>
          </a:p>
          <a:p>
            <a:pPr algn="ctr"/>
            <a:r>
              <a:rPr lang="en-GB" dirty="0">
                <a:latin typeface="Comic Sans MS" panose="030F0702030302020204" pitchFamily="66" charset="0"/>
              </a:rPr>
              <a:t>When we solve a quadratic equation, we are find the points where the graph intersects the x axis.</a:t>
            </a:r>
          </a:p>
        </p:txBody>
      </p:sp>
    </p:spTree>
    <p:extLst>
      <p:ext uri="{BB962C8B-B14F-4D97-AF65-F5344CB8AC3E}">
        <p14:creationId xmlns:p14="http://schemas.microsoft.com/office/powerpoint/2010/main" val="220066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≤ 0</a:t>
            </a:r>
          </a:p>
        </p:txBody>
      </p:sp>
      <p:sp>
        <p:nvSpPr>
          <p:cNvPr id="5" name="Explosion 2 4"/>
          <p:cNvSpPr/>
          <p:nvPr/>
        </p:nvSpPr>
        <p:spPr bwMode="auto">
          <a:xfrm>
            <a:off x="5817782" y="1512745"/>
            <a:ext cx="3281122" cy="1721244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Start by solving the inequality as an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</p:spTree>
    <p:extLst>
      <p:ext uri="{BB962C8B-B14F-4D97-AF65-F5344CB8AC3E}">
        <p14:creationId xmlns:p14="http://schemas.microsoft.com/office/powerpoint/2010/main" val="1233116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9" name="Cloud Callout 8"/>
          <p:cNvSpPr/>
          <p:nvPr/>
        </p:nvSpPr>
        <p:spPr bwMode="auto">
          <a:xfrm>
            <a:off x="5988423" y="2284251"/>
            <a:ext cx="2474289" cy="1575061"/>
          </a:xfrm>
          <a:prstGeom prst="cloudCallout">
            <a:avLst>
              <a:gd name="adj1" fmla="val -80502"/>
              <a:gd name="adj2" fmla="val -5487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These are the point where the quadratic graph intersects the x axis</a:t>
            </a:r>
          </a:p>
        </p:txBody>
      </p:sp>
    </p:spTree>
    <p:extLst>
      <p:ext uri="{BB962C8B-B14F-4D97-AF65-F5344CB8AC3E}">
        <p14:creationId xmlns:p14="http://schemas.microsoft.com/office/powerpoint/2010/main" val="2338809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10" name="Explosion 2 9"/>
          <p:cNvSpPr/>
          <p:nvPr/>
        </p:nvSpPr>
        <p:spPr bwMode="auto">
          <a:xfrm>
            <a:off x="3863762" y="3052478"/>
            <a:ext cx="3065966" cy="1721244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Now we need to sketch the graph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259752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10" name="Explosion 2 9"/>
          <p:cNvSpPr/>
          <p:nvPr/>
        </p:nvSpPr>
        <p:spPr bwMode="auto">
          <a:xfrm>
            <a:off x="3695943" y="3158444"/>
            <a:ext cx="3845905" cy="1667455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For what values of x is the graph </a:t>
            </a:r>
            <a:r>
              <a:rPr lang="en-GB" sz="1345" b="1" u="sng" dirty="0">
                <a:solidFill>
                  <a:srgbClr val="000000"/>
                </a:solidFill>
                <a:latin typeface="Comic Sans MS" panose="030F0702030302020204" pitchFamily="66" charset="0"/>
              </a:rPr>
              <a:t>below</a:t>
            </a:r>
            <a:r>
              <a:rPr lang="en-GB" sz="1345" b="1" dirty="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the x axis?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3406556" y="1600179"/>
            <a:ext cx="2043978" cy="49104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Freeform 4"/>
          <p:cNvSpPr/>
          <p:nvPr/>
        </p:nvSpPr>
        <p:spPr bwMode="auto">
          <a:xfrm>
            <a:off x="7102184" y="2768380"/>
            <a:ext cx="645096" cy="328138"/>
          </a:xfrm>
          <a:custGeom>
            <a:avLst/>
            <a:gdLst>
              <a:gd name="connsiteX0" fmla="*/ 0 w 863600"/>
              <a:gd name="connsiteY0" fmla="*/ 0 h 439284"/>
              <a:gd name="connsiteX1" fmla="*/ 133927 w 863600"/>
              <a:gd name="connsiteY1" fmla="*/ 235527 h 439284"/>
              <a:gd name="connsiteX2" fmla="*/ 254000 w 863600"/>
              <a:gd name="connsiteY2" fmla="*/ 364837 h 439284"/>
              <a:gd name="connsiteX3" fmla="*/ 424873 w 863600"/>
              <a:gd name="connsiteY3" fmla="*/ 438727 h 439284"/>
              <a:gd name="connsiteX4" fmla="*/ 646545 w 863600"/>
              <a:gd name="connsiteY4" fmla="*/ 327891 h 439284"/>
              <a:gd name="connsiteX5" fmla="*/ 775855 w 863600"/>
              <a:gd name="connsiteY5" fmla="*/ 166255 h 439284"/>
              <a:gd name="connsiteX6" fmla="*/ 863600 w 863600"/>
              <a:gd name="connsiteY6" fmla="*/ 0 h 439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3600" h="439284">
                <a:moveTo>
                  <a:pt x="0" y="0"/>
                </a:moveTo>
                <a:cubicBezTo>
                  <a:pt x="45797" y="87360"/>
                  <a:pt x="91594" y="174721"/>
                  <a:pt x="133927" y="235527"/>
                </a:cubicBezTo>
                <a:cubicBezTo>
                  <a:pt x="176260" y="296333"/>
                  <a:pt x="205509" y="330970"/>
                  <a:pt x="254000" y="364837"/>
                </a:cubicBezTo>
                <a:cubicBezTo>
                  <a:pt x="302491" y="398704"/>
                  <a:pt x="359449" y="444885"/>
                  <a:pt x="424873" y="438727"/>
                </a:cubicBezTo>
                <a:cubicBezTo>
                  <a:pt x="490297" y="432569"/>
                  <a:pt x="588048" y="373303"/>
                  <a:pt x="646545" y="327891"/>
                </a:cubicBezTo>
                <a:cubicBezTo>
                  <a:pt x="705042" y="282479"/>
                  <a:pt x="739679" y="220903"/>
                  <a:pt x="775855" y="166255"/>
                </a:cubicBezTo>
                <a:cubicBezTo>
                  <a:pt x="812031" y="111607"/>
                  <a:pt x="837815" y="55803"/>
                  <a:pt x="86360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95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10" name="Explosion 2 9"/>
          <p:cNvSpPr/>
          <p:nvPr/>
        </p:nvSpPr>
        <p:spPr bwMode="auto">
          <a:xfrm>
            <a:off x="3383944" y="2947397"/>
            <a:ext cx="4325723" cy="2475901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The graph is below the x axis between </a:t>
            </a:r>
          </a:p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-4 and -2.</a:t>
            </a:r>
          </a:p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Let’s write that as an inequality…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  <p:sp>
        <p:nvSpPr>
          <p:cNvPr id="5" name="Freeform 4"/>
          <p:cNvSpPr/>
          <p:nvPr/>
        </p:nvSpPr>
        <p:spPr bwMode="auto">
          <a:xfrm>
            <a:off x="7102184" y="2768380"/>
            <a:ext cx="645096" cy="328138"/>
          </a:xfrm>
          <a:custGeom>
            <a:avLst/>
            <a:gdLst>
              <a:gd name="connsiteX0" fmla="*/ 0 w 863600"/>
              <a:gd name="connsiteY0" fmla="*/ 0 h 439284"/>
              <a:gd name="connsiteX1" fmla="*/ 133927 w 863600"/>
              <a:gd name="connsiteY1" fmla="*/ 235527 h 439284"/>
              <a:gd name="connsiteX2" fmla="*/ 254000 w 863600"/>
              <a:gd name="connsiteY2" fmla="*/ 364837 h 439284"/>
              <a:gd name="connsiteX3" fmla="*/ 424873 w 863600"/>
              <a:gd name="connsiteY3" fmla="*/ 438727 h 439284"/>
              <a:gd name="connsiteX4" fmla="*/ 646545 w 863600"/>
              <a:gd name="connsiteY4" fmla="*/ 327891 h 439284"/>
              <a:gd name="connsiteX5" fmla="*/ 775855 w 863600"/>
              <a:gd name="connsiteY5" fmla="*/ 166255 h 439284"/>
              <a:gd name="connsiteX6" fmla="*/ 863600 w 863600"/>
              <a:gd name="connsiteY6" fmla="*/ 0 h 439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3600" h="439284">
                <a:moveTo>
                  <a:pt x="0" y="0"/>
                </a:moveTo>
                <a:cubicBezTo>
                  <a:pt x="45797" y="87360"/>
                  <a:pt x="91594" y="174721"/>
                  <a:pt x="133927" y="235527"/>
                </a:cubicBezTo>
                <a:cubicBezTo>
                  <a:pt x="176260" y="296333"/>
                  <a:pt x="205509" y="330970"/>
                  <a:pt x="254000" y="364837"/>
                </a:cubicBezTo>
                <a:cubicBezTo>
                  <a:pt x="302491" y="398704"/>
                  <a:pt x="359449" y="444885"/>
                  <a:pt x="424873" y="438727"/>
                </a:cubicBezTo>
                <a:cubicBezTo>
                  <a:pt x="490297" y="432569"/>
                  <a:pt x="588048" y="373303"/>
                  <a:pt x="646545" y="327891"/>
                </a:cubicBezTo>
                <a:cubicBezTo>
                  <a:pt x="705042" y="282479"/>
                  <a:pt x="739679" y="220903"/>
                  <a:pt x="775855" y="166255"/>
                </a:cubicBezTo>
                <a:cubicBezTo>
                  <a:pt x="812031" y="111607"/>
                  <a:pt x="837815" y="55803"/>
                  <a:pt x="86360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8611" y="3909462"/>
            <a:ext cx="2312922" cy="414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92" dirty="0">
                <a:solidFill>
                  <a:srgbClr val="000000"/>
                </a:solidFill>
                <a:latin typeface="Comic Sans MS" panose="030F0702030302020204" pitchFamily="66" charset="0"/>
              </a:rPr>
              <a:t>-4 ≤ x ≤ -2</a:t>
            </a:r>
          </a:p>
        </p:txBody>
      </p:sp>
    </p:spTree>
    <p:extLst>
      <p:ext uri="{BB962C8B-B14F-4D97-AF65-F5344CB8AC3E}">
        <p14:creationId xmlns:p14="http://schemas.microsoft.com/office/powerpoint/2010/main" val="3328270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≤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  <p:sp>
        <p:nvSpPr>
          <p:cNvPr id="5" name="Freeform 4"/>
          <p:cNvSpPr/>
          <p:nvPr/>
        </p:nvSpPr>
        <p:spPr bwMode="auto">
          <a:xfrm>
            <a:off x="7102184" y="2768380"/>
            <a:ext cx="645096" cy="328138"/>
          </a:xfrm>
          <a:custGeom>
            <a:avLst/>
            <a:gdLst>
              <a:gd name="connsiteX0" fmla="*/ 0 w 863600"/>
              <a:gd name="connsiteY0" fmla="*/ 0 h 439284"/>
              <a:gd name="connsiteX1" fmla="*/ 133927 w 863600"/>
              <a:gd name="connsiteY1" fmla="*/ 235527 h 439284"/>
              <a:gd name="connsiteX2" fmla="*/ 254000 w 863600"/>
              <a:gd name="connsiteY2" fmla="*/ 364837 h 439284"/>
              <a:gd name="connsiteX3" fmla="*/ 424873 w 863600"/>
              <a:gd name="connsiteY3" fmla="*/ 438727 h 439284"/>
              <a:gd name="connsiteX4" fmla="*/ 646545 w 863600"/>
              <a:gd name="connsiteY4" fmla="*/ 327891 h 439284"/>
              <a:gd name="connsiteX5" fmla="*/ 775855 w 863600"/>
              <a:gd name="connsiteY5" fmla="*/ 166255 h 439284"/>
              <a:gd name="connsiteX6" fmla="*/ 863600 w 863600"/>
              <a:gd name="connsiteY6" fmla="*/ 0 h 439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3600" h="439284">
                <a:moveTo>
                  <a:pt x="0" y="0"/>
                </a:moveTo>
                <a:cubicBezTo>
                  <a:pt x="45797" y="87360"/>
                  <a:pt x="91594" y="174721"/>
                  <a:pt x="133927" y="235527"/>
                </a:cubicBezTo>
                <a:cubicBezTo>
                  <a:pt x="176260" y="296333"/>
                  <a:pt x="205509" y="330970"/>
                  <a:pt x="254000" y="364837"/>
                </a:cubicBezTo>
                <a:cubicBezTo>
                  <a:pt x="302491" y="398704"/>
                  <a:pt x="359449" y="444885"/>
                  <a:pt x="424873" y="438727"/>
                </a:cubicBezTo>
                <a:cubicBezTo>
                  <a:pt x="490297" y="432569"/>
                  <a:pt x="588048" y="373303"/>
                  <a:pt x="646545" y="327891"/>
                </a:cubicBezTo>
                <a:cubicBezTo>
                  <a:pt x="705042" y="282479"/>
                  <a:pt x="739679" y="220903"/>
                  <a:pt x="775855" y="166255"/>
                </a:cubicBezTo>
                <a:cubicBezTo>
                  <a:pt x="812031" y="111607"/>
                  <a:pt x="837815" y="55803"/>
                  <a:pt x="86360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8611" y="3909462"/>
            <a:ext cx="2312922" cy="414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92" dirty="0">
                <a:solidFill>
                  <a:srgbClr val="000000"/>
                </a:solidFill>
                <a:latin typeface="Comic Sans MS" panose="030F0702030302020204" pitchFamily="66" charset="0"/>
              </a:rPr>
              <a:t>-4 ≤ x ≤ -2</a:t>
            </a:r>
          </a:p>
        </p:txBody>
      </p:sp>
      <p:sp>
        <p:nvSpPr>
          <p:cNvPr id="17" name="Cloud Callout 16"/>
          <p:cNvSpPr/>
          <p:nvPr/>
        </p:nvSpPr>
        <p:spPr bwMode="auto">
          <a:xfrm>
            <a:off x="3567923" y="3538059"/>
            <a:ext cx="3065966" cy="1133640"/>
          </a:xfrm>
          <a:prstGeom prst="cloudCallout">
            <a:avLst>
              <a:gd name="adj1" fmla="val 85932"/>
              <a:gd name="adj2" fmla="val 536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Remember the graph was greater than or equal to zero</a:t>
            </a:r>
          </a:p>
        </p:txBody>
      </p:sp>
    </p:spTree>
    <p:extLst>
      <p:ext uri="{BB962C8B-B14F-4D97-AF65-F5344CB8AC3E}">
        <p14:creationId xmlns:p14="http://schemas.microsoft.com/office/powerpoint/2010/main" val="312939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5" name="Explosion 2 4"/>
          <p:cNvSpPr/>
          <p:nvPr/>
        </p:nvSpPr>
        <p:spPr bwMode="auto">
          <a:xfrm>
            <a:off x="4589912" y="1822946"/>
            <a:ext cx="2698717" cy="1539733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What’s different this time?</a:t>
            </a:r>
          </a:p>
        </p:txBody>
      </p:sp>
    </p:spTree>
    <p:extLst>
      <p:ext uri="{BB962C8B-B14F-4D97-AF65-F5344CB8AC3E}">
        <p14:creationId xmlns:p14="http://schemas.microsoft.com/office/powerpoint/2010/main" val="210054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5" name="Explosion 2 4"/>
          <p:cNvSpPr/>
          <p:nvPr/>
        </p:nvSpPr>
        <p:spPr bwMode="auto">
          <a:xfrm>
            <a:off x="5817782" y="1512745"/>
            <a:ext cx="3281122" cy="1721244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Start by solving the inequality as an equation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</p:spTree>
    <p:extLst>
      <p:ext uri="{BB962C8B-B14F-4D97-AF65-F5344CB8AC3E}">
        <p14:creationId xmlns:p14="http://schemas.microsoft.com/office/powerpoint/2010/main" val="357757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9" name="Cloud Callout 8"/>
          <p:cNvSpPr/>
          <p:nvPr/>
        </p:nvSpPr>
        <p:spPr bwMode="auto">
          <a:xfrm>
            <a:off x="5988423" y="2284251"/>
            <a:ext cx="2474289" cy="1575061"/>
          </a:xfrm>
          <a:prstGeom prst="cloudCallout">
            <a:avLst>
              <a:gd name="adj1" fmla="val -80502"/>
              <a:gd name="adj2" fmla="val -5487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These are the point where the quadratic graph intersects the x axis</a:t>
            </a:r>
          </a:p>
        </p:txBody>
      </p:sp>
    </p:spTree>
    <p:extLst>
      <p:ext uri="{BB962C8B-B14F-4D97-AF65-F5344CB8AC3E}">
        <p14:creationId xmlns:p14="http://schemas.microsoft.com/office/powerpoint/2010/main" val="166540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10" name="Explosion 2 9"/>
          <p:cNvSpPr/>
          <p:nvPr/>
        </p:nvSpPr>
        <p:spPr bwMode="auto">
          <a:xfrm>
            <a:off x="3383944" y="2947397"/>
            <a:ext cx="4325723" cy="2475901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The graph is below the x axis between </a:t>
            </a:r>
          </a:p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-4 and -2.</a:t>
            </a:r>
          </a:p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Let’s write that as an inequality…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  <p:sp>
        <p:nvSpPr>
          <p:cNvPr id="5" name="Freeform 4"/>
          <p:cNvSpPr/>
          <p:nvPr/>
        </p:nvSpPr>
        <p:spPr bwMode="auto">
          <a:xfrm>
            <a:off x="7102184" y="2768380"/>
            <a:ext cx="645096" cy="328138"/>
          </a:xfrm>
          <a:custGeom>
            <a:avLst/>
            <a:gdLst>
              <a:gd name="connsiteX0" fmla="*/ 0 w 863600"/>
              <a:gd name="connsiteY0" fmla="*/ 0 h 439284"/>
              <a:gd name="connsiteX1" fmla="*/ 133927 w 863600"/>
              <a:gd name="connsiteY1" fmla="*/ 235527 h 439284"/>
              <a:gd name="connsiteX2" fmla="*/ 254000 w 863600"/>
              <a:gd name="connsiteY2" fmla="*/ 364837 h 439284"/>
              <a:gd name="connsiteX3" fmla="*/ 424873 w 863600"/>
              <a:gd name="connsiteY3" fmla="*/ 438727 h 439284"/>
              <a:gd name="connsiteX4" fmla="*/ 646545 w 863600"/>
              <a:gd name="connsiteY4" fmla="*/ 327891 h 439284"/>
              <a:gd name="connsiteX5" fmla="*/ 775855 w 863600"/>
              <a:gd name="connsiteY5" fmla="*/ 166255 h 439284"/>
              <a:gd name="connsiteX6" fmla="*/ 863600 w 863600"/>
              <a:gd name="connsiteY6" fmla="*/ 0 h 439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3600" h="439284">
                <a:moveTo>
                  <a:pt x="0" y="0"/>
                </a:moveTo>
                <a:cubicBezTo>
                  <a:pt x="45797" y="87360"/>
                  <a:pt x="91594" y="174721"/>
                  <a:pt x="133927" y="235527"/>
                </a:cubicBezTo>
                <a:cubicBezTo>
                  <a:pt x="176260" y="296333"/>
                  <a:pt x="205509" y="330970"/>
                  <a:pt x="254000" y="364837"/>
                </a:cubicBezTo>
                <a:cubicBezTo>
                  <a:pt x="302491" y="398704"/>
                  <a:pt x="359449" y="444885"/>
                  <a:pt x="424873" y="438727"/>
                </a:cubicBezTo>
                <a:cubicBezTo>
                  <a:pt x="490297" y="432569"/>
                  <a:pt x="588048" y="373303"/>
                  <a:pt x="646545" y="327891"/>
                </a:cubicBezTo>
                <a:cubicBezTo>
                  <a:pt x="705042" y="282479"/>
                  <a:pt x="739679" y="220903"/>
                  <a:pt x="775855" y="166255"/>
                </a:cubicBezTo>
                <a:cubicBezTo>
                  <a:pt x="812031" y="111607"/>
                  <a:pt x="837815" y="55803"/>
                  <a:pt x="86360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8611" y="3909462"/>
            <a:ext cx="2312922" cy="414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92" dirty="0">
                <a:solidFill>
                  <a:srgbClr val="000000"/>
                </a:solidFill>
                <a:latin typeface="Comic Sans MS" panose="030F0702030302020204" pitchFamily="66" charset="0"/>
              </a:rPr>
              <a:t>-4 ≤ x ≤ -2</a:t>
            </a:r>
          </a:p>
        </p:txBody>
      </p:sp>
    </p:spTree>
    <p:extLst>
      <p:ext uri="{BB962C8B-B14F-4D97-AF65-F5344CB8AC3E}">
        <p14:creationId xmlns:p14="http://schemas.microsoft.com/office/powerpoint/2010/main" val="312021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10" name="Explosion 2 9"/>
          <p:cNvSpPr/>
          <p:nvPr/>
        </p:nvSpPr>
        <p:spPr bwMode="auto">
          <a:xfrm>
            <a:off x="3863762" y="3052478"/>
            <a:ext cx="3065966" cy="1721244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Now we need to sketch the graph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</p:spTree>
    <p:extLst>
      <p:ext uri="{BB962C8B-B14F-4D97-AF65-F5344CB8AC3E}">
        <p14:creationId xmlns:p14="http://schemas.microsoft.com/office/powerpoint/2010/main" val="321441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sp>
        <p:nvSpPr>
          <p:cNvPr id="10" name="Explosion 2 9"/>
          <p:cNvSpPr/>
          <p:nvPr/>
        </p:nvSpPr>
        <p:spPr bwMode="auto">
          <a:xfrm>
            <a:off x="3695943" y="3158444"/>
            <a:ext cx="3845905" cy="1667455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For what values of x is the graph </a:t>
            </a:r>
            <a:r>
              <a:rPr lang="en-GB" sz="1345" b="1" u="sng" dirty="0">
                <a:solidFill>
                  <a:srgbClr val="000000"/>
                </a:solidFill>
                <a:latin typeface="Comic Sans MS" panose="030F0702030302020204" pitchFamily="66" charset="0"/>
              </a:rPr>
              <a:t>above</a:t>
            </a: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the x axis?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3406556" y="1600179"/>
            <a:ext cx="2043978" cy="491041"/>
          </a:xfrm>
          <a:prstGeom prst="ellips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Freeform 8"/>
          <p:cNvSpPr/>
          <p:nvPr/>
        </p:nvSpPr>
        <p:spPr bwMode="auto">
          <a:xfrm>
            <a:off x="7746971" y="1866959"/>
            <a:ext cx="271537" cy="895794"/>
          </a:xfrm>
          <a:custGeom>
            <a:avLst/>
            <a:gdLst>
              <a:gd name="connsiteX0" fmla="*/ 0 w 363511"/>
              <a:gd name="connsiteY0" fmla="*/ 1199213 h 1199213"/>
              <a:gd name="connsiteX1" fmla="*/ 187377 w 363511"/>
              <a:gd name="connsiteY1" fmla="*/ 663315 h 1199213"/>
              <a:gd name="connsiteX2" fmla="*/ 363511 w 363511"/>
              <a:gd name="connsiteY2" fmla="*/ 0 h 119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511" h="1199213">
                <a:moveTo>
                  <a:pt x="0" y="1199213"/>
                </a:moveTo>
                <a:cubicBezTo>
                  <a:pt x="63396" y="1031198"/>
                  <a:pt x="126792" y="863184"/>
                  <a:pt x="187377" y="663315"/>
                </a:cubicBezTo>
                <a:cubicBezTo>
                  <a:pt x="247962" y="463446"/>
                  <a:pt x="305736" y="231723"/>
                  <a:pt x="363511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5" name="Freeform 14"/>
          <p:cNvSpPr/>
          <p:nvPr/>
        </p:nvSpPr>
        <p:spPr bwMode="auto">
          <a:xfrm>
            <a:off x="6814783" y="1844566"/>
            <a:ext cx="288334" cy="923787"/>
          </a:xfrm>
          <a:custGeom>
            <a:avLst/>
            <a:gdLst>
              <a:gd name="connsiteX0" fmla="*/ 385997 w 385997"/>
              <a:gd name="connsiteY0" fmla="*/ 1236688 h 1236688"/>
              <a:gd name="connsiteX1" fmla="*/ 176135 w 385997"/>
              <a:gd name="connsiteY1" fmla="*/ 652072 h 1236688"/>
              <a:gd name="connsiteX2" fmla="*/ 0 w 385997"/>
              <a:gd name="connsiteY2" fmla="*/ 0 h 123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997" h="1236688">
                <a:moveTo>
                  <a:pt x="385997" y="1236688"/>
                </a:moveTo>
                <a:cubicBezTo>
                  <a:pt x="313232" y="1047437"/>
                  <a:pt x="240468" y="858187"/>
                  <a:pt x="176135" y="652072"/>
                </a:cubicBezTo>
                <a:cubicBezTo>
                  <a:pt x="111802" y="445957"/>
                  <a:pt x="55901" y="222978"/>
                  <a:pt x="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81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  <p:bldP spid="9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≥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+ 6x + 8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+ 4)(x + 2)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-4, x = -2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978611" y="1707756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1"/>
          <p:cNvSpPr/>
          <p:nvPr/>
        </p:nvSpPr>
        <p:spPr bwMode="auto">
          <a:xfrm>
            <a:off x="6813205" y="1839613"/>
            <a:ext cx="1208461" cy="1252261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3205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4883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611" y="3909462"/>
            <a:ext cx="2312922" cy="414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92" dirty="0">
                <a:solidFill>
                  <a:srgbClr val="000000"/>
                </a:solidFill>
                <a:latin typeface="Comic Sans MS" panose="030F0702030302020204" pitchFamily="66" charset="0"/>
              </a:rPr>
              <a:t>x ≤ -4, x ≥ -2</a:t>
            </a:r>
          </a:p>
        </p:txBody>
      </p:sp>
      <p:sp>
        <p:nvSpPr>
          <p:cNvPr id="16" name="Cloud Callout 15"/>
          <p:cNvSpPr/>
          <p:nvPr/>
        </p:nvSpPr>
        <p:spPr bwMode="auto">
          <a:xfrm>
            <a:off x="3567923" y="3538059"/>
            <a:ext cx="3065966" cy="1133640"/>
          </a:xfrm>
          <a:prstGeom prst="cloudCallout">
            <a:avLst>
              <a:gd name="adj1" fmla="val 85932"/>
              <a:gd name="adj2" fmla="val 536"/>
            </a:avLst>
          </a:prstGeom>
          <a:solidFill>
            <a:schemeClr val="accent1"/>
          </a:solidFill>
          <a:ln w="952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algn="ctr"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Remember the graph was greater than or equal to zero</a:t>
            </a:r>
          </a:p>
        </p:txBody>
      </p:sp>
      <p:sp>
        <p:nvSpPr>
          <p:cNvPr id="17" name="Freeform 16"/>
          <p:cNvSpPr/>
          <p:nvPr/>
        </p:nvSpPr>
        <p:spPr bwMode="auto">
          <a:xfrm>
            <a:off x="7746971" y="1866959"/>
            <a:ext cx="271537" cy="895794"/>
          </a:xfrm>
          <a:custGeom>
            <a:avLst/>
            <a:gdLst>
              <a:gd name="connsiteX0" fmla="*/ 0 w 363511"/>
              <a:gd name="connsiteY0" fmla="*/ 1199213 h 1199213"/>
              <a:gd name="connsiteX1" fmla="*/ 187377 w 363511"/>
              <a:gd name="connsiteY1" fmla="*/ 663315 h 1199213"/>
              <a:gd name="connsiteX2" fmla="*/ 363511 w 363511"/>
              <a:gd name="connsiteY2" fmla="*/ 0 h 119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511" h="1199213">
                <a:moveTo>
                  <a:pt x="0" y="1199213"/>
                </a:moveTo>
                <a:cubicBezTo>
                  <a:pt x="63396" y="1031198"/>
                  <a:pt x="126792" y="863184"/>
                  <a:pt x="187377" y="663315"/>
                </a:cubicBezTo>
                <a:cubicBezTo>
                  <a:pt x="247962" y="463446"/>
                  <a:pt x="305736" y="231723"/>
                  <a:pt x="363511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Freeform 17"/>
          <p:cNvSpPr/>
          <p:nvPr/>
        </p:nvSpPr>
        <p:spPr bwMode="auto">
          <a:xfrm>
            <a:off x="6814783" y="1844566"/>
            <a:ext cx="288334" cy="923787"/>
          </a:xfrm>
          <a:custGeom>
            <a:avLst/>
            <a:gdLst>
              <a:gd name="connsiteX0" fmla="*/ 385997 w 385997"/>
              <a:gd name="connsiteY0" fmla="*/ 1236688 h 1236688"/>
              <a:gd name="connsiteX1" fmla="*/ 176135 w 385997"/>
              <a:gd name="connsiteY1" fmla="*/ 652072 h 1236688"/>
              <a:gd name="connsiteX2" fmla="*/ 0 w 385997"/>
              <a:gd name="connsiteY2" fmla="*/ 0 h 123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997" h="1236688">
                <a:moveTo>
                  <a:pt x="385997" y="1236688"/>
                </a:moveTo>
                <a:cubicBezTo>
                  <a:pt x="313232" y="1047437"/>
                  <a:pt x="240468" y="858187"/>
                  <a:pt x="176135" y="652072"/>
                </a:cubicBezTo>
                <a:cubicBezTo>
                  <a:pt x="111802" y="445957"/>
                  <a:pt x="55901" y="222978"/>
                  <a:pt x="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910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14134" y="1707757"/>
            <a:ext cx="6831188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- 2x - 35 &gt;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14134" y="2097483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Solve x² - 2x - 35 =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4134" y="2497080"/>
            <a:ext cx="2205344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       (x - 7)(x + 5)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4445" y="2860748"/>
            <a:ext cx="2312922" cy="299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45" dirty="0">
                <a:solidFill>
                  <a:srgbClr val="000000"/>
                </a:solidFill>
                <a:latin typeface="Comic Sans MS" panose="030F0702030302020204" pitchFamily="66" charset="0"/>
              </a:rPr>
              <a:t>x = 7, x = -5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V="1">
            <a:off x="7655878" y="1736123"/>
            <a:ext cx="0" cy="1559878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87678" y="2772964"/>
            <a:ext cx="2043978" cy="0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7105313" y="2757289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3554" y="2757290"/>
            <a:ext cx="304785" cy="2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96" dirty="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6996" y="3805523"/>
            <a:ext cx="2312922" cy="414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92" dirty="0">
                <a:solidFill>
                  <a:srgbClr val="000000"/>
                </a:solidFill>
                <a:latin typeface="Comic Sans MS" panose="030F0702030302020204" pitchFamily="66" charset="0"/>
              </a:rPr>
              <a:t>x &lt; -5, x &gt; 7</a:t>
            </a:r>
          </a:p>
        </p:txBody>
      </p:sp>
      <p:sp>
        <p:nvSpPr>
          <p:cNvPr id="12" name="Freeform 11"/>
          <p:cNvSpPr/>
          <p:nvPr/>
        </p:nvSpPr>
        <p:spPr bwMode="auto">
          <a:xfrm>
            <a:off x="6911089" y="1726878"/>
            <a:ext cx="1690395" cy="1409755"/>
          </a:xfrm>
          <a:custGeom>
            <a:avLst/>
            <a:gdLst>
              <a:gd name="connsiteX0" fmla="*/ 0 w 1617785"/>
              <a:gd name="connsiteY0" fmla="*/ 0 h 1676421"/>
              <a:gd name="connsiteX1" fmla="*/ 398585 w 1617785"/>
              <a:gd name="connsiteY1" fmla="*/ 1266092 h 1676421"/>
              <a:gd name="connsiteX2" fmla="*/ 808893 w 1617785"/>
              <a:gd name="connsiteY2" fmla="*/ 1676400 h 1676421"/>
              <a:gd name="connsiteX3" fmla="*/ 1242647 w 1617785"/>
              <a:gd name="connsiteY3" fmla="*/ 1254369 h 1676421"/>
              <a:gd name="connsiteX4" fmla="*/ 1617785 w 1617785"/>
              <a:gd name="connsiteY4" fmla="*/ 11723 h 1676421"/>
              <a:gd name="connsiteX5" fmla="*/ 1617785 w 1617785"/>
              <a:gd name="connsiteY5" fmla="*/ 11723 h 1676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17785" h="1676421">
                <a:moveTo>
                  <a:pt x="0" y="0"/>
                </a:moveTo>
                <a:cubicBezTo>
                  <a:pt x="131885" y="493346"/>
                  <a:pt x="263770" y="986692"/>
                  <a:pt x="398585" y="1266092"/>
                </a:cubicBezTo>
                <a:cubicBezTo>
                  <a:pt x="533400" y="1545492"/>
                  <a:pt x="668216" y="1678354"/>
                  <a:pt x="808893" y="1676400"/>
                </a:cubicBezTo>
                <a:cubicBezTo>
                  <a:pt x="949570" y="1674446"/>
                  <a:pt x="1107832" y="1531815"/>
                  <a:pt x="1242647" y="1254369"/>
                </a:cubicBezTo>
                <a:cubicBezTo>
                  <a:pt x="1377462" y="976923"/>
                  <a:pt x="1617785" y="11723"/>
                  <a:pt x="1617785" y="11723"/>
                </a:cubicBezTo>
                <a:lnTo>
                  <a:pt x="1617785" y="11723"/>
                </a:ln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Freeform 16"/>
          <p:cNvSpPr/>
          <p:nvPr/>
        </p:nvSpPr>
        <p:spPr bwMode="auto">
          <a:xfrm>
            <a:off x="8217239" y="1757663"/>
            <a:ext cx="379826" cy="1008456"/>
          </a:xfrm>
          <a:custGeom>
            <a:avLst/>
            <a:gdLst>
              <a:gd name="connsiteX0" fmla="*/ 0 w 363511"/>
              <a:gd name="connsiteY0" fmla="*/ 1199213 h 1199213"/>
              <a:gd name="connsiteX1" fmla="*/ 187377 w 363511"/>
              <a:gd name="connsiteY1" fmla="*/ 663315 h 1199213"/>
              <a:gd name="connsiteX2" fmla="*/ 363511 w 363511"/>
              <a:gd name="connsiteY2" fmla="*/ 0 h 1199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511" h="1199213">
                <a:moveTo>
                  <a:pt x="0" y="1199213"/>
                </a:moveTo>
                <a:cubicBezTo>
                  <a:pt x="63396" y="1031198"/>
                  <a:pt x="126792" y="863184"/>
                  <a:pt x="187377" y="663315"/>
                </a:cubicBezTo>
                <a:cubicBezTo>
                  <a:pt x="247962" y="463446"/>
                  <a:pt x="305736" y="231723"/>
                  <a:pt x="363511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  <p:sp>
        <p:nvSpPr>
          <p:cNvPr id="18" name="Freeform 17"/>
          <p:cNvSpPr/>
          <p:nvPr/>
        </p:nvSpPr>
        <p:spPr bwMode="auto">
          <a:xfrm>
            <a:off x="6913297" y="1732452"/>
            <a:ext cx="403321" cy="1039970"/>
          </a:xfrm>
          <a:custGeom>
            <a:avLst/>
            <a:gdLst>
              <a:gd name="connsiteX0" fmla="*/ 385997 w 385997"/>
              <a:gd name="connsiteY0" fmla="*/ 1236688 h 1236688"/>
              <a:gd name="connsiteX1" fmla="*/ 176135 w 385997"/>
              <a:gd name="connsiteY1" fmla="*/ 652072 h 1236688"/>
              <a:gd name="connsiteX2" fmla="*/ 0 w 385997"/>
              <a:gd name="connsiteY2" fmla="*/ 0 h 1236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5997" h="1236688">
                <a:moveTo>
                  <a:pt x="385997" y="1236688"/>
                </a:moveTo>
                <a:cubicBezTo>
                  <a:pt x="313232" y="1047437"/>
                  <a:pt x="240468" y="858187"/>
                  <a:pt x="176135" y="652072"/>
                </a:cubicBezTo>
                <a:cubicBezTo>
                  <a:pt x="111802" y="445957"/>
                  <a:pt x="55901" y="222978"/>
                  <a:pt x="0" y="0"/>
                </a:cubicBez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304" tIns="34152" rIns="68304" bIns="34152" numCol="1" rtlCol="0" anchor="t" anchorCtr="0" compatLnSpc="1">
            <a:prstTxWarp prst="textNoShape">
              <a:avLst/>
            </a:prstTxWarp>
          </a:bodyPr>
          <a:lstStyle/>
          <a:p>
            <a:pPr defTabSz="335599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en-GB" sz="1345">
              <a:solidFill>
                <a:srgbClr val="FFFFFF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65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3" grpId="0"/>
      <p:bldP spid="14" grpId="0"/>
      <p:bldP spid="15" grpId="0"/>
      <p:bldP spid="12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1775520" y="1844824"/>
          <a:ext cx="4320584" cy="45259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Original inequality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omic Sans MS" pitchFamily="66" charset="0"/>
                        </a:rPr>
                        <a:t>Solution of inequality</a:t>
                      </a:r>
                      <a:endParaRPr lang="en-GB" sz="100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(x – 5)(x + 3) ≥ 0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≤ -3</a:t>
                      </a:r>
                      <a:endParaRPr lang="en-GB" sz="1100" dirty="0">
                        <a:effectLst/>
                        <a:latin typeface="Comic Sans MS" pitchFamily="66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≥ 5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omic Sans MS" pitchFamily="66" charset="0"/>
                        </a:rPr>
                        <a:t>(x – 3)(x – 5) &lt; 0</a:t>
                      </a:r>
                      <a:endParaRPr lang="en-GB" sz="100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3 &lt; x &lt; 5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omic Sans MS" pitchFamily="66" charset="0"/>
                        </a:rPr>
                        <a:t>(x + 4)(x – 7) &gt; 0</a:t>
                      </a:r>
                      <a:endParaRPr lang="en-GB" sz="100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&lt; -4</a:t>
                      </a:r>
                      <a:endParaRPr lang="en-GB" sz="1100" dirty="0">
                        <a:effectLst/>
                        <a:latin typeface="Comic Sans MS" pitchFamily="66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&gt; 7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omic Sans MS" pitchFamily="66" charset="0"/>
                        </a:rPr>
                        <a:t>x² + 10x + 21 ≥ 0</a:t>
                      </a:r>
                      <a:endParaRPr lang="en-GB" sz="100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≤ -7</a:t>
                      </a:r>
                      <a:endParaRPr lang="en-GB" sz="1100" dirty="0">
                        <a:effectLst/>
                        <a:latin typeface="Comic Sans MS" pitchFamily="66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≥ -3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omic Sans MS" pitchFamily="66" charset="0"/>
                        </a:rPr>
                        <a:t>x² + 6x + 5 &gt; 0</a:t>
                      </a:r>
                      <a:endParaRPr lang="en-GB" sz="100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&lt; -5</a:t>
                      </a:r>
                      <a:endParaRPr lang="en-GB" sz="1100" dirty="0">
                        <a:effectLst/>
                        <a:latin typeface="Comic Sans MS" pitchFamily="66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x &gt; -1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56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>
                          <a:effectLst/>
                          <a:latin typeface="Comic Sans MS" pitchFamily="66" charset="0"/>
                        </a:rPr>
                        <a:t>x² - 3x + 2 &lt; 0</a:t>
                      </a:r>
                      <a:endParaRPr lang="en-GB" sz="100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800" dirty="0">
                          <a:effectLst/>
                          <a:latin typeface="Comic Sans MS" pitchFamily="66" charset="0"/>
                        </a:rPr>
                        <a:t>1 &lt; x &lt; 2</a:t>
                      </a:r>
                      <a:endParaRPr lang="en-GB" sz="1000" dirty="0">
                        <a:effectLst/>
                        <a:latin typeface="Comic Sans MS" pitchFamily="66" charset="0"/>
                        <a:ea typeface="Times New Roman"/>
                      </a:endParaRPr>
                    </a:p>
                  </a:txBody>
                  <a:tcPr marL="68460" marR="6846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03249" y="1844824"/>
              <a:ext cx="4320584" cy="452596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602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2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Comic Sans MS" pitchFamily="66" charset="0"/>
                            </a:rPr>
                            <a:t>Original inequality</a:t>
                          </a:r>
                          <a:endParaRPr lang="en-GB" sz="1000" dirty="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Solution of inequality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+ 7x + 12 ≥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≤ -4</a:t>
                          </a:r>
                          <a:endParaRPr lang="en-GB" sz="1100">
                            <a:effectLst/>
                            <a:latin typeface="Comic Sans MS" pitchFamily="66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≥ -3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- 12x + 35 ≤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5 ≤ x ≤ 7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+ x – 6 ≤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Comic Sans MS" pitchFamily="66" charset="0"/>
                            </a:rPr>
                            <a:t>-3 ≤ x ≤ 2</a:t>
                          </a:r>
                          <a:endParaRPr lang="en-GB" sz="1000" dirty="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≥ 4x + 21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≤ -3</a:t>
                          </a:r>
                          <a:endParaRPr lang="en-GB" sz="1100">
                            <a:effectLst/>
                            <a:latin typeface="Comic Sans MS" pitchFamily="66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≥ 7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5x² - 11x + 2 ≤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18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800">
                                      <a:effectLst/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 ≤ x ≤ 2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18 + 3x - x² &gt;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Comic Sans MS" pitchFamily="66" charset="0"/>
                            </a:rPr>
                            <a:t>-3 &lt; x &lt; 6</a:t>
                          </a:r>
                          <a:endParaRPr lang="en-GB" sz="1000" dirty="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6103249" y="1844824"/>
              <a:ext cx="4320584" cy="4525962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21602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2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Comic Sans MS" pitchFamily="66" charset="0"/>
                            </a:rPr>
                            <a:t>Original inequality</a:t>
                          </a:r>
                          <a:endParaRPr lang="en-GB" sz="1000" dirty="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Solution of inequality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+ 7x + 12 ≥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≤ -4</a:t>
                          </a:r>
                          <a:endParaRPr lang="en-GB" sz="1100">
                            <a:effectLst/>
                            <a:latin typeface="Comic Sans MS" pitchFamily="66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≥ -3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- 12x + 35 ≤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5 ≤ x ≤ 7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+ x – 6 ≤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Comic Sans MS" pitchFamily="66" charset="0"/>
                            </a:rPr>
                            <a:t>-3 ≤ x ≤ 2</a:t>
                          </a:r>
                          <a:endParaRPr lang="en-GB" sz="1000" dirty="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x² ≥ 4x + 21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≤ -3</a:t>
                          </a:r>
                          <a:endParaRPr lang="en-GB" sz="1100">
                            <a:effectLst/>
                            <a:latin typeface="Comic Sans MS" pitchFamily="66" charset="0"/>
                          </a:endParaRPr>
                        </a:p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x ≥ 7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5x² - 11x + 2 ≤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65" t="-500935" r="-847" b="-100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465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>
                              <a:effectLst/>
                              <a:latin typeface="Comic Sans MS" pitchFamily="66" charset="0"/>
                            </a:rPr>
                            <a:t>18 + 3x - x² &gt; 0</a:t>
                          </a:r>
                          <a:endParaRPr lang="en-GB" sz="100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GB" sz="1800" dirty="0">
                              <a:effectLst/>
                              <a:latin typeface="Comic Sans MS" pitchFamily="66" charset="0"/>
                            </a:rPr>
                            <a:t>-3 &lt; x &lt; 6</a:t>
                          </a:r>
                          <a:endParaRPr lang="en-GB" sz="1000" dirty="0">
                            <a:effectLst/>
                            <a:latin typeface="Comic Sans MS" pitchFamily="66" charset="0"/>
                            <a:ea typeface="Times New Roman"/>
                          </a:endParaRPr>
                        </a:p>
                      </a:txBody>
                      <a:tcPr marL="68460" marR="6846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2017012" y="1268761"/>
            <a:ext cx="8172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dirty="0">
                <a:latin typeface="Comic Sans MS" pitchFamily="66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260835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1459</Words>
  <Application>Microsoft Office PowerPoint</Application>
  <PresentationFormat>Widescreen</PresentationFormat>
  <Paragraphs>213</Paragraphs>
  <Slides>19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Microsoft YaHei</vt:lpstr>
      <vt:lpstr>Arial</vt:lpstr>
      <vt:lpstr>Calibri</vt:lpstr>
      <vt:lpstr>Calibri Light</vt:lpstr>
      <vt:lpstr>Cambria Math</vt:lpstr>
      <vt:lpstr>Comic Sans MS</vt:lpstr>
      <vt:lpstr>Times New Roman</vt:lpstr>
      <vt:lpstr>Office Theme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Mohammed Qayyum</dc:creator>
  <cp:lastModifiedBy>Mohammed Qayyum</cp:lastModifiedBy>
  <cp:revision>2</cp:revision>
  <dcterms:created xsi:type="dcterms:W3CDTF">2018-09-18T18:21:36Z</dcterms:created>
  <dcterms:modified xsi:type="dcterms:W3CDTF">2018-09-19T16:38:15Z</dcterms:modified>
</cp:coreProperties>
</file>